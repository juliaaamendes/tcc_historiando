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778200" cy="32385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hau Philomene" panose="020B0604020202020204" charset="0"/>
      <p:regular r:id="rId7"/>
    </p:embeddedFont>
    <p:embeddedFont>
      <p:font typeface="Aptos Bold" panose="020B0604020202020204" charset="0"/>
      <p:regular r:id="rId8"/>
    </p:embeddedFont>
    <p:embeddedFont>
      <p:font typeface="Arial" panose="020B0604020202020204" pitchFamily="34" charset="0"/>
      <p:regular r:id="rId9"/>
    </p:embeddedFont>
    <p:embeddedFont>
      <p:font typeface="Nasalization" panose="020B0604020202020204" charset="0"/>
      <p:regular r:id="rId10"/>
    </p:embeddedFont>
    <p:embeddedFont>
      <p:font typeface="ITC Franklin Gothic LT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7" d="100"/>
          <a:sy n="27" d="100"/>
        </p:scale>
        <p:origin x="788" y="-17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66494" y="18282738"/>
            <a:ext cx="6786540" cy="3839817"/>
            <a:chOff x="0" y="0"/>
            <a:chExt cx="18347583" cy="10381044"/>
          </a:xfrm>
        </p:grpSpPr>
        <p:sp>
          <p:nvSpPr>
            <p:cNvPr id="3" name="Freeform 3" descr="Resultado de imagem para radar velocidade"/>
            <p:cNvSpPr/>
            <p:nvPr/>
          </p:nvSpPr>
          <p:spPr>
            <a:xfrm>
              <a:off x="0" y="0"/>
              <a:ext cx="18347596" cy="10381107"/>
            </a:xfrm>
            <a:custGeom>
              <a:avLst/>
              <a:gdLst/>
              <a:ahLst/>
              <a:cxnLst/>
              <a:rect l="l" t="t" r="r" b="b"/>
              <a:pathLst>
                <a:path w="18347596" h="10381107">
                  <a:moveTo>
                    <a:pt x="0" y="0"/>
                  </a:moveTo>
                  <a:lnTo>
                    <a:pt x="18347596" y="0"/>
                  </a:lnTo>
                  <a:lnTo>
                    <a:pt x="18347596" y="10381107"/>
                  </a:lnTo>
                  <a:lnTo>
                    <a:pt x="0" y="10381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966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466494" y="22417830"/>
            <a:ext cx="6832691" cy="3865930"/>
            <a:chOff x="0" y="0"/>
            <a:chExt cx="9612288" cy="5438623"/>
          </a:xfrm>
        </p:grpSpPr>
        <p:sp>
          <p:nvSpPr>
            <p:cNvPr id="5" name="Freeform 5" descr="Resultado de imagem para radar velocidade"/>
            <p:cNvSpPr/>
            <p:nvPr/>
          </p:nvSpPr>
          <p:spPr>
            <a:xfrm>
              <a:off x="0" y="0"/>
              <a:ext cx="9612351" cy="5438648"/>
            </a:xfrm>
            <a:custGeom>
              <a:avLst/>
              <a:gdLst/>
              <a:ahLst/>
              <a:cxnLst/>
              <a:rect l="l" t="t" r="r" b="b"/>
              <a:pathLst>
                <a:path w="9612351" h="5438648">
                  <a:moveTo>
                    <a:pt x="0" y="0"/>
                  </a:moveTo>
                  <a:lnTo>
                    <a:pt x="9612351" y="0"/>
                  </a:lnTo>
                  <a:lnTo>
                    <a:pt x="9612351" y="5438648"/>
                  </a:lnTo>
                  <a:lnTo>
                    <a:pt x="0" y="5438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943" b="-894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557990" y="7959039"/>
            <a:ext cx="14009347" cy="9062017"/>
            <a:chOff x="0" y="0"/>
            <a:chExt cx="1318624" cy="9318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8624" cy="931810"/>
            </a:xfrm>
            <a:custGeom>
              <a:avLst/>
              <a:gdLst/>
              <a:ahLst/>
              <a:cxnLst/>
              <a:rect l="l" t="t" r="r" b="b"/>
              <a:pathLst>
                <a:path w="1318624" h="931810">
                  <a:moveTo>
                    <a:pt x="28184" y="0"/>
                  </a:moveTo>
                  <a:lnTo>
                    <a:pt x="1290440" y="0"/>
                  </a:lnTo>
                  <a:cubicBezTo>
                    <a:pt x="1306005" y="0"/>
                    <a:pt x="1318624" y="12618"/>
                    <a:pt x="1318624" y="28184"/>
                  </a:cubicBezTo>
                  <a:lnTo>
                    <a:pt x="1318624" y="903626"/>
                  </a:lnTo>
                  <a:cubicBezTo>
                    <a:pt x="1318624" y="911101"/>
                    <a:pt x="1315654" y="918270"/>
                    <a:pt x="1310369" y="923555"/>
                  </a:cubicBezTo>
                  <a:cubicBezTo>
                    <a:pt x="1305083" y="928841"/>
                    <a:pt x="1297915" y="931810"/>
                    <a:pt x="1290440" y="931810"/>
                  </a:cubicBezTo>
                  <a:lnTo>
                    <a:pt x="28184" y="931810"/>
                  </a:lnTo>
                  <a:cubicBezTo>
                    <a:pt x="12618" y="931810"/>
                    <a:pt x="0" y="919192"/>
                    <a:pt x="0" y="903626"/>
                  </a:cubicBezTo>
                  <a:lnTo>
                    <a:pt x="0" y="28184"/>
                  </a:lnTo>
                  <a:cubicBezTo>
                    <a:pt x="0" y="12618"/>
                    <a:pt x="12618" y="0"/>
                    <a:pt x="28184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318624" cy="950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188" y="163068"/>
            <a:ext cx="28493380" cy="7638428"/>
            <a:chOff x="0" y="0"/>
            <a:chExt cx="2681986" cy="718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81986" cy="718960"/>
            </a:xfrm>
            <a:custGeom>
              <a:avLst/>
              <a:gdLst/>
              <a:ahLst/>
              <a:cxnLst/>
              <a:rect l="l" t="t" r="r" b="b"/>
              <a:pathLst>
                <a:path w="2681986" h="718960">
                  <a:moveTo>
                    <a:pt x="2681986" y="13314"/>
                  </a:moveTo>
                  <a:lnTo>
                    <a:pt x="2681986" y="705646"/>
                  </a:lnTo>
                  <a:cubicBezTo>
                    <a:pt x="2681986" y="712999"/>
                    <a:pt x="2676025" y="718960"/>
                    <a:pt x="2668672" y="718960"/>
                  </a:cubicBezTo>
                  <a:lnTo>
                    <a:pt x="13314" y="718960"/>
                  </a:lnTo>
                  <a:cubicBezTo>
                    <a:pt x="5961" y="718960"/>
                    <a:pt x="0" y="712999"/>
                    <a:pt x="0" y="705646"/>
                  </a:cubicBezTo>
                  <a:lnTo>
                    <a:pt x="0" y="13314"/>
                  </a:lnTo>
                  <a:cubicBezTo>
                    <a:pt x="0" y="5961"/>
                    <a:pt x="5961" y="0"/>
                    <a:pt x="13314" y="0"/>
                  </a:cubicBezTo>
                  <a:lnTo>
                    <a:pt x="2668672" y="0"/>
                  </a:lnTo>
                  <a:cubicBezTo>
                    <a:pt x="2676025" y="0"/>
                    <a:pt x="2681986" y="5961"/>
                    <a:pt x="2681986" y="13314"/>
                  </a:cubicBezTo>
                  <a:close/>
                </a:path>
              </a:pathLst>
            </a:custGeom>
            <a:ln w="9525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681986" cy="738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197673" y="773114"/>
            <a:ext cx="4964531" cy="2614653"/>
          </a:xfrm>
          <a:custGeom>
            <a:avLst/>
            <a:gdLst/>
            <a:ahLst/>
            <a:cxnLst/>
            <a:rect l="l" t="t" r="r" b="b"/>
            <a:pathLst>
              <a:path w="4964531" h="2614653">
                <a:moveTo>
                  <a:pt x="0" y="0"/>
                </a:moveTo>
                <a:lnTo>
                  <a:pt x="4964531" y="0"/>
                </a:lnTo>
                <a:lnTo>
                  <a:pt x="4964531" y="2614653"/>
                </a:lnTo>
                <a:lnTo>
                  <a:pt x="0" y="261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426353" y="5906735"/>
            <a:ext cx="27761659" cy="0"/>
          </a:xfrm>
          <a:prstGeom prst="line">
            <a:avLst/>
          </a:prstGeom>
          <a:ln w="76200" cap="flat">
            <a:gradFill>
              <a:gsLst>
                <a:gs pos="0">
                  <a:srgbClr val="545454">
                    <a:alpha val="100000"/>
                  </a:srgbClr>
                </a:gs>
                <a:gs pos="100000">
                  <a:srgbClr val="828282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305702" y="439964"/>
            <a:ext cx="7905312" cy="4190421"/>
            <a:chOff x="0" y="0"/>
            <a:chExt cx="10540416" cy="5587228"/>
          </a:xfrm>
        </p:grpSpPr>
        <p:sp>
          <p:nvSpPr>
            <p:cNvPr id="15" name="Freeform 15"/>
            <p:cNvSpPr/>
            <p:nvPr/>
          </p:nvSpPr>
          <p:spPr>
            <a:xfrm>
              <a:off x="2986101" y="845454"/>
              <a:ext cx="7554315" cy="3320201"/>
            </a:xfrm>
            <a:custGeom>
              <a:avLst/>
              <a:gdLst/>
              <a:ahLst/>
              <a:cxnLst/>
              <a:rect l="l" t="t" r="r" b="b"/>
              <a:pathLst>
                <a:path w="7554315" h="3320201">
                  <a:moveTo>
                    <a:pt x="0" y="0"/>
                  </a:moveTo>
                  <a:lnTo>
                    <a:pt x="7554315" y="0"/>
                  </a:lnTo>
                  <a:lnTo>
                    <a:pt x="7554315" y="3320201"/>
                  </a:lnTo>
                  <a:lnTo>
                    <a:pt x="0" y="332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418" t="-60408" r="-256798" b="-495179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flipH="1">
              <a:off x="0" y="0"/>
              <a:ext cx="2986101" cy="4583098"/>
            </a:xfrm>
            <a:custGeom>
              <a:avLst/>
              <a:gdLst/>
              <a:ahLst/>
              <a:cxnLst/>
              <a:rect l="l" t="t" r="r" b="b"/>
              <a:pathLst>
                <a:path w="2986101" h="4583098">
                  <a:moveTo>
                    <a:pt x="2986101" y="0"/>
                  </a:moveTo>
                  <a:lnTo>
                    <a:pt x="0" y="0"/>
                  </a:lnTo>
                  <a:lnTo>
                    <a:pt x="0" y="4583098"/>
                  </a:lnTo>
                  <a:lnTo>
                    <a:pt x="2986101" y="4583098"/>
                  </a:lnTo>
                  <a:lnTo>
                    <a:pt x="2986101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636426" y="3578969"/>
              <a:ext cx="2012452" cy="2008259"/>
            </a:xfrm>
            <a:custGeom>
              <a:avLst/>
              <a:gdLst/>
              <a:ahLst/>
              <a:cxnLst/>
              <a:rect l="l" t="t" r="r" b="b"/>
              <a:pathLst>
                <a:path w="2012452" h="2008259">
                  <a:moveTo>
                    <a:pt x="0" y="0"/>
                  </a:moveTo>
                  <a:lnTo>
                    <a:pt x="2012451" y="0"/>
                  </a:lnTo>
                  <a:lnTo>
                    <a:pt x="2012451" y="2008259"/>
                  </a:lnTo>
                  <a:lnTo>
                    <a:pt x="0" y="200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7000"/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6137929" y="3861658"/>
            <a:ext cx="2024275" cy="1717738"/>
            <a:chOff x="0" y="0"/>
            <a:chExt cx="190500" cy="1616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500" cy="161671"/>
            </a:xfrm>
            <a:custGeom>
              <a:avLst/>
              <a:gdLst/>
              <a:ahLst/>
              <a:cxnLst/>
              <a:rect l="l" t="t" r="r" b="b"/>
              <a:pathLst>
                <a:path w="190500" h="161671">
                  <a:moveTo>
                    <a:pt x="190500" y="80836"/>
                  </a:moveTo>
                  <a:lnTo>
                    <a:pt x="190500" y="80836"/>
                  </a:lnTo>
                  <a:cubicBezTo>
                    <a:pt x="190500" y="102274"/>
                    <a:pt x="181983" y="122835"/>
                    <a:pt x="166824" y="137995"/>
                  </a:cubicBezTo>
                  <a:cubicBezTo>
                    <a:pt x="151664" y="153154"/>
                    <a:pt x="131103" y="161671"/>
                    <a:pt x="109665" y="161671"/>
                  </a:cubicBezTo>
                  <a:lnTo>
                    <a:pt x="80836" y="161671"/>
                  </a:lnTo>
                  <a:cubicBezTo>
                    <a:pt x="36191" y="161671"/>
                    <a:pt x="0" y="125480"/>
                    <a:pt x="0" y="80836"/>
                  </a:cubicBezTo>
                  <a:lnTo>
                    <a:pt x="0" y="80836"/>
                  </a:lnTo>
                  <a:cubicBezTo>
                    <a:pt x="0" y="36191"/>
                    <a:pt x="36191" y="0"/>
                    <a:pt x="80836" y="0"/>
                  </a:cubicBezTo>
                  <a:lnTo>
                    <a:pt x="109665" y="0"/>
                  </a:lnTo>
                  <a:cubicBezTo>
                    <a:pt x="154309" y="0"/>
                    <a:pt x="190500" y="36191"/>
                    <a:pt x="190500" y="80836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90500" cy="180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7820" y="4305561"/>
            <a:ext cx="7905312" cy="1260087"/>
            <a:chOff x="0" y="0"/>
            <a:chExt cx="744084" cy="1186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44084" cy="118605"/>
            </a:xfrm>
            <a:custGeom>
              <a:avLst/>
              <a:gdLst/>
              <a:ahLst/>
              <a:cxnLst/>
              <a:rect l="l" t="t" r="r" b="b"/>
              <a:pathLst>
                <a:path w="744084" h="118605">
                  <a:moveTo>
                    <a:pt x="27421" y="0"/>
                  </a:moveTo>
                  <a:lnTo>
                    <a:pt x="716663" y="0"/>
                  </a:lnTo>
                  <a:cubicBezTo>
                    <a:pt x="723935" y="0"/>
                    <a:pt x="730910" y="2889"/>
                    <a:pt x="736053" y="8032"/>
                  </a:cubicBezTo>
                  <a:cubicBezTo>
                    <a:pt x="741195" y="13174"/>
                    <a:pt x="744084" y="20149"/>
                    <a:pt x="744084" y="27421"/>
                  </a:cubicBezTo>
                  <a:lnTo>
                    <a:pt x="744084" y="91184"/>
                  </a:lnTo>
                  <a:cubicBezTo>
                    <a:pt x="744084" y="98456"/>
                    <a:pt x="741195" y="105431"/>
                    <a:pt x="736053" y="110574"/>
                  </a:cubicBezTo>
                  <a:cubicBezTo>
                    <a:pt x="730910" y="115716"/>
                    <a:pt x="723935" y="118605"/>
                    <a:pt x="716663" y="118605"/>
                  </a:cubicBezTo>
                  <a:lnTo>
                    <a:pt x="27421" y="118605"/>
                  </a:lnTo>
                  <a:cubicBezTo>
                    <a:pt x="12277" y="118605"/>
                    <a:pt x="0" y="106328"/>
                    <a:pt x="0" y="91184"/>
                  </a:cubicBezTo>
                  <a:lnTo>
                    <a:pt x="0" y="27421"/>
                  </a:lnTo>
                  <a:cubicBezTo>
                    <a:pt x="0" y="12277"/>
                    <a:pt x="12277" y="0"/>
                    <a:pt x="27421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44084" cy="13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901" y="8187639"/>
            <a:ext cx="14075033" cy="9742673"/>
            <a:chOff x="0" y="0"/>
            <a:chExt cx="1324806" cy="9170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24806" cy="917025"/>
            </a:xfrm>
            <a:custGeom>
              <a:avLst/>
              <a:gdLst/>
              <a:ahLst/>
              <a:cxnLst/>
              <a:rect l="l" t="t" r="r" b="b"/>
              <a:pathLst>
                <a:path w="1324806" h="917025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888973"/>
                  </a:lnTo>
                  <a:cubicBezTo>
                    <a:pt x="1324806" y="896413"/>
                    <a:pt x="1321851" y="903548"/>
                    <a:pt x="1316590" y="908809"/>
                  </a:cubicBezTo>
                  <a:cubicBezTo>
                    <a:pt x="1311329" y="914069"/>
                    <a:pt x="1304194" y="917025"/>
                    <a:pt x="1296754" y="917025"/>
                  </a:cubicBezTo>
                  <a:lnTo>
                    <a:pt x="28052" y="917025"/>
                  </a:lnTo>
                  <a:cubicBezTo>
                    <a:pt x="12559" y="917025"/>
                    <a:pt x="0" y="904465"/>
                    <a:pt x="0" y="888973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324806" cy="936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69881" y="9296836"/>
            <a:ext cx="13541071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Historiando tem como objetivo desenvolver um jogo educativo voltado ao ensino da História do Brasil pré-colonial e colonial, utilizando uma abordagem lúdica, narrativa e imersiva. A proposta busca auxiliar estudantes do ensino básico e colegial na compreensão dos processos históricos brasileiros por meio da participação ativa do jogador, transformando o aprendizado em uma experiência interativa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Baseado em pesquisas historiográficas, conceitos de gamificação e perspectivas decoloniais, o jogo insere o jogador em diferentes períodos históricos, permitindo vivenciar culturas, conflitos e acontecimentos que marcaram a formação do Brasil. Além de estimular o interesse pela disciplina de História, o projeto pretende tornar o aprendizado mais acessível, crítico e dinâmico.</a:t>
            </a: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2901" y="7959039"/>
            <a:ext cx="14081891" cy="974255"/>
            <a:chOff x="0" y="0"/>
            <a:chExt cx="1325452" cy="9170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557990" y="7959039"/>
            <a:ext cx="14009347" cy="974255"/>
            <a:chOff x="0" y="0"/>
            <a:chExt cx="1318624" cy="9170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18624" cy="91701"/>
            </a:xfrm>
            <a:custGeom>
              <a:avLst/>
              <a:gdLst/>
              <a:ahLst/>
              <a:cxnLst/>
              <a:rect l="l" t="t" r="r" b="b"/>
              <a:pathLst>
                <a:path w="1318624" h="91701">
                  <a:moveTo>
                    <a:pt x="8842" y="0"/>
                  </a:moveTo>
                  <a:lnTo>
                    <a:pt x="1309782" y="0"/>
                  </a:lnTo>
                  <a:cubicBezTo>
                    <a:pt x="1314665" y="0"/>
                    <a:pt x="1318624" y="3959"/>
                    <a:pt x="1318624" y="8842"/>
                  </a:cubicBezTo>
                  <a:lnTo>
                    <a:pt x="1318624" y="82859"/>
                  </a:lnTo>
                  <a:cubicBezTo>
                    <a:pt x="1318624" y="87743"/>
                    <a:pt x="1314665" y="91701"/>
                    <a:pt x="1309782" y="91701"/>
                  </a:cubicBezTo>
                  <a:lnTo>
                    <a:pt x="8842" y="91701"/>
                  </a:lnTo>
                  <a:cubicBezTo>
                    <a:pt x="3959" y="91701"/>
                    <a:pt x="0" y="87743"/>
                    <a:pt x="0" y="82859"/>
                  </a:cubicBezTo>
                  <a:lnTo>
                    <a:pt x="0" y="8842"/>
                  </a:lnTo>
                  <a:cubicBezTo>
                    <a:pt x="0" y="3959"/>
                    <a:pt x="3959" y="0"/>
                    <a:pt x="8842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318624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188" y="18074378"/>
            <a:ext cx="14075033" cy="6347359"/>
            <a:chOff x="0" y="0"/>
            <a:chExt cx="1324806" cy="5974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24806" cy="597442"/>
            </a:xfrm>
            <a:custGeom>
              <a:avLst/>
              <a:gdLst/>
              <a:ahLst/>
              <a:cxnLst/>
              <a:rect l="l" t="t" r="r" b="b"/>
              <a:pathLst>
                <a:path w="1324806" h="597442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569390"/>
                  </a:lnTo>
                  <a:cubicBezTo>
                    <a:pt x="1324806" y="576830"/>
                    <a:pt x="1321851" y="583965"/>
                    <a:pt x="1316590" y="589226"/>
                  </a:cubicBezTo>
                  <a:cubicBezTo>
                    <a:pt x="1311329" y="594487"/>
                    <a:pt x="1304194" y="597442"/>
                    <a:pt x="1296754" y="597442"/>
                  </a:cubicBezTo>
                  <a:lnTo>
                    <a:pt x="28052" y="597442"/>
                  </a:lnTo>
                  <a:cubicBezTo>
                    <a:pt x="20612" y="597442"/>
                    <a:pt x="13477" y="594487"/>
                    <a:pt x="8216" y="589226"/>
                  </a:cubicBezTo>
                  <a:cubicBezTo>
                    <a:pt x="2956" y="583965"/>
                    <a:pt x="0" y="576830"/>
                    <a:pt x="0" y="569390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324806" cy="616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50853" y="19371524"/>
            <a:ext cx="13661722" cy="481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Desenvolver um </a:t>
            </a:r>
            <a:r>
              <a:rPr lang="pt-BR" sz="3500" b="1" dirty="0">
                <a:latin typeface="Arial" panose="020B0604020202020204" pitchFamily="34" charset="0"/>
                <a:cs typeface="Arial" panose="020B0604020202020204" pitchFamily="34" charset="0"/>
              </a:rPr>
              <a:t>jogo educativo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que ensine a História do Brasil pré-colonial e colonial de maneira didática e imersiva, permitindo que o jogador participe ativamente dos acontecimentos históricos por meio de exploração, narrativa e desafios interativos.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projeto busca auxiliar estudantes do ensino básico e colegial na aprendizagem dos conteúdos históricos, funcionando como ferramenta complementar de ensino, revisão e fixação do conhecimento.</a:t>
            </a:r>
          </a:p>
          <a:p>
            <a:pPr algn="just">
              <a:lnSpc>
                <a:spcPts val="4199"/>
              </a:lnSpc>
            </a:pPr>
            <a:endParaRPr lang="en-US" sz="34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02901" y="18063663"/>
            <a:ext cx="14081891" cy="974255"/>
            <a:chOff x="0" y="0"/>
            <a:chExt cx="1325452" cy="9170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93565" y="18122003"/>
            <a:ext cx="607803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OBJETIVOS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2901" y="24622952"/>
            <a:ext cx="14075033" cy="6501138"/>
            <a:chOff x="0" y="0"/>
            <a:chExt cx="1324806" cy="61191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24806" cy="611917"/>
            </a:xfrm>
            <a:custGeom>
              <a:avLst/>
              <a:gdLst/>
              <a:ahLst/>
              <a:cxnLst/>
              <a:rect l="l" t="t" r="r" b="b"/>
              <a:pathLst>
                <a:path w="1324806" h="611917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583864"/>
                  </a:lnTo>
                  <a:cubicBezTo>
                    <a:pt x="1324806" y="591304"/>
                    <a:pt x="1321851" y="598440"/>
                    <a:pt x="1316590" y="603700"/>
                  </a:cubicBezTo>
                  <a:cubicBezTo>
                    <a:pt x="1311329" y="608961"/>
                    <a:pt x="1304194" y="611917"/>
                    <a:pt x="1296754" y="611917"/>
                  </a:cubicBezTo>
                  <a:lnTo>
                    <a:pt x="28052" y="611917"/>
                  </a:lnTo>
                  <a:cubicBezTo>
                    <a:pt x="12559" y="611917"/>
                    <a:pt x="0" y="599357"/>
                    <a:pt x="0" y="583864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324806" cy="63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613" y="24612237"/>
            <a:ext cx="14081891" cy="974255"/>
            <a:chOff x="0" y="0"/>
            <a:chExt cx="1325452" cy="9170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480782" y="26772849"/>
            <a:ext cx="14075033" cy="4351241"/>
            <a:chOff x="0" y="0"/>
            <a:chExt cx="1324806" cy="40955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24806" cy="409559"/>
            </a:xfrm>
            <a:custGeom>
              <a:avLst/>
              <a:gdLst/>
              <a:ahLst/>
              <a:cxnLst/>
              <a:rect l="l" t="t" r="r" b="b"/>
              <a:pathLst>
                <a:path w="1324806" h="409559">
                  <a:moveTo>
                    <a:pt x="28052" y="0"/>
                  </a:moveTo>
                  <a:lnTo>
                    <a:pt x="1296754" y="0"/>
                  </a:lnTo>
                  <a:cubicBezTo>
                    <a:pt x="1312247" y="0"/>
                    <a:pt x="1324806" y="12559"/>
                    <a:pt x="1324806" y="28052"/>
                  </a:cubicBezTo>
                  <a:lnTo>
                    <a:pt x="1324806" y="381506"/>
                  </a:lnTo>
                  <a:cubicBezTo>
                    <a:pt x="1324806" y="388946"/>
                    <a:pt x="1321851" y="396081"/>
                    <a:pt x="1316590" y="401342"/>
                  </a:cubicBezTo>
                  <a:cubicBezTo>
                    <a:pt x="1311329" y="406603"/>
                    <a:pt x="1304194" y="409559"/>
                    <a:pt x="1296754" y="409559"/>
                  </a:cubicBezTo>
                  <a:lnTo>
                    <a:pt x="28052" y="409559"/>
                  </a:lnTo>
                  <a:cubicBezTo>
                    <a:pt x="12559" y="409559"/>
                    <a:pt x="0" y="396999"/>
                    <a:pt x="0" y="381506"/>
                  </a:cubicBezTo>
                  <a:lnTo>
                    <a:pt x="0" y="28052"/>
                  </a:lnTo>
                  <a:cubicBezTo>
                    <a:pt x="0" y="20612"/>
                    <a:pt x="2956" y="13477"/>
                    <a:pt x="8216" y="8216"/>
                  </a:cubicBezTo>
                  <a:cubicBezTo>
                    <a:pt x="13477" y="2956"/>
                    <a:pt x="20612" y="0"/>
                    <a:pt x="28052" y="0"/>
                  </a:cubicBezTo>
                  <a:close/>
                </a:path>
              </a:pathLst>
            </a:custGeom>
            <a:ln w="76200" cap="rnd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324806" cy="428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466494" y="26762133"/>
            <a:ext cx="14081891" cy="974255"/>
            <a:chOff x="0" y="0"/>
            <a:chExt cx="1325452" cy="9170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25452" cy="91701"/>
            </a:xfrm>
            <a:custGeom>
              <a:avLst/>
              <a:gdLst/>
              <a:ahLst/>
              <a:cxnLst/>
              <a:rect l="l" t="t" r="r" b="b"/>
              <a:pathLst>
                <a:path w="1325452" h="91701">
                  <a:moveTo>
                    <a:pt x="8796" y="0"/>
                  </a:moveTo>
                  <a:lnTo>
                    <a:pt x="1316655" y="0"/>
                  </a:lnTo>
                  <a:cubicBezTo>
                    <a:pt x="1321514" y="0"/>
                    <a:pt x="1325452" y="3938"/>
                    <a:pt x="1325452" y="8796"/>
                  </a:cubicBezTo>
                  <a:lnTo>
                    <a:pt x="1325452" y="82905"/>
                  </a:lnTo>
                  <a:cubicBezTo>
                    <a:pt x="1325452" y="87763"/>
                    <a:pt x="1321514" y="91701"/>
                    <a:pt x="1316655" y="91701"/>
                  </a:cubicBezTo>
                  <a:lnTo>
                    <a:pt x="8796" y="91701"/>
                  </a:lnTo>
                  <a:cubicBezTo>
                    <a:pt x="6463" y="91701"/>
                    <a:pt x="4226" y="90775"/>
                    <a:pt x="2576" y="89125"/>
                  </a:cubicBezTo>
                  <a:cubicBezTo>
                    <a:pt x="927" y="87475"/>
                    <a:pt x="0" y="85238"/>
                    <a:pt x="0" y="82905"/>
                  </a:cubicBezTo>
                  <a:lnTo>
                    <a:pt x="0" y="8796"/>
                  </a:lnTo>
                  <a:cubicBezTo>
                    <a:pt x="0" y="6463"/>
                    <a:pt x="927" y="4226"/>
                    <a:pt x="2576" y="2576"/>
                  </a:cubicBezTo>
                  <a:cubicBezTo>
                    <a:pt x="4226" y="927"/>
                    <a:pt x="6463" y="0"/>
                    <a:pt x="8796" y="0"/>
                  </a:cubicBezTo>
                  <a:close/>
                </a:path>
              </a:pathLst>
            </a:custGeom>
            <a:solidFill>
              <a:srgbClr val="545454"/>
            </a:solidFill>
            <a:ln w="76200" cap="sq">
              <a:gradFill>
                <a:gsLst>
                  <a:gs pos="0">
                    <a:srgbClr val="545454">
                      <a:alpha val="100000"/>
                    </a:srgbClr>
                  </a:gs>
                  <a:gs pos="100000">
                    <a:srgbClr val="828282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325452" cy="110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9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386257" y="8030558"/>
            <a:ext cx="493666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RESUMO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981156" y="3974283"/>
            <a:ext cx="2337821" cy="15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80"/>
              </a:lnSpc>
              <a:spcBef>
                <a:spcPct val="0"/>
              </a:spcBef>
            </a:pPr>
            <a:r>
              <a:rPr lang="en-US" sz="9900" dirty="0" smtClean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51</a:t>
            </a:r>
            <a:endParaRPr lang="en-US" sz="9900" dirty="0">
              <a:solidFill>
                <a:srgbClr val="FFFFFF"/>
              </a:solidFill>
              <a:latin typeface="Chau Philomene"/>
              <a:ea typeface="Chau Philomene"/>
              <a:cs typeface="Chau Philomene"/>
              <a:sym typeface="Chau Philomene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289674" y="6119199"/>
            <a:ext cx="27761659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Integrantes</a:t>
            </a:r>
            <a:r>
              <a:rPr lang="en-US" sz="6000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Julia Mendes • Maria 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Júlia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Araújo</a:t>
            </a:r>
            <a:r>
              <a:rPr lang="en-US" sz="6000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• Paola </a:t>
            </a:r>
            <a:r>
              <a:rPr lang="en-US" sz="6000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Lohana</a:t>
            </a:r>
            <a:endParaRPr lang="en-US" sz="6000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26353" y="6859235"/>
            <a:ext cx="2771004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4999" b="1" dirty="0" err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Orientadores</a:t>
            </a:r>
            <a:r>
              <a:rPr lang="en-US" sz="4999" b="1" dirty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: Profs. </a:t>
            </a:r>
            <a:r>
              <a:rPr lang="en-US" sz="4999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Simone </a:t>
            </a:r>
            <a:r>
              <a:rPr lang="en-US" sz="4999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Lacerda</a:t>
            </a:r>
            <a:r>
              <a:rPr lang="en-US" sz="4999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e </a:t>
            </a:r>
            <a:r>
              <a:rPr lang="en-US" sz="4999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Laís</a:t>
            </a:r>
            <a:r>
              <a:rPr lang="en-US" sz="4999" b="1" dirty="0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4999" b="1" dirty="0" err="1" smtClean="0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Lacerda</a:t>
            </a:r>
            <a:endParaRPr lang="en-US" sz="4999" b="1" dirty="0">
              <a:solidFill>
                <a:srgbClr val="191919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774922" y="669798"/>
            <a:ext cx="13953251" cy="2013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6"/>
              </a:lnSpc>
              <a:spcBef>
                <a:spcPct val="0"/>
              </a:spcBef>
            </a:pPr>
            <a:r>
              <a:rPr lang="en-US" sz="13088" b="1" dirty="0" smtClean="0">
                <a:solidFill>
                  <a:srgbClr val="19191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HISTORIANDO:</a:t>
            </a:r>
            <a:endParaRPr lang="en-US" sz="13088" b="1" dirty="0">
              <a:solidFill>
                <a:srgbClr val="191919"/>
              </a:solidFill>
              <a:latin typeface="ITC Franklin Gothic LT Semi-Bold"/>
              <a:ea typeface="ITC Franklin Gothic LT Semi-Bold"/>
              <a:cs typeface="ITC Franklin Gothic LT Semi-Bold"/>
              <a:sym typeface="ITC Franklin Gothic LT Semi-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516694" y="2509978"/>
            <a:ext cx="14211479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smtClean="0">
                <a:solidFill>
                  <a:srgbClr val="191919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Pindorama</a:t>
            </a:r>
            <a:endParaRPr lang="en-US" sz="9000" b="1" dirty="0">
              <a:solidFill>
                <a:srgbClr val="191919"/>
              </a:solidFill>
              <a:latin typeface="ITC Franklin Gothic LT Semi-Bold"/>
              <a:ea typeface="ITC Franklin Gothic LT Semi-Bold"/>
              <a:cs typeface="ITC Franklin Gothic LT Semi-Bold"/>
              <a:sym typeface="ITC Franklin Gothic LT Semi-Bold"/>
            </a:endParaRPr>
          </a:p>
        </p:txBody>
      </p:sp>
      <p:grpSp>
        <p:nvGrpSpPr>
          <p:cNvPr id="60" name="Group 60"/>
          <p:cNvGrpSpPr/>
          <p:nvPr/>
        </p:nvGrpSpPr>
        <p:grpSpPr>
          <a:xfrm>
            <a:off x="160420" y="31422899"/>
            <a:ext cx="28406917" cy="934212"/>
            <a:chOff x="0" y="0"/>
            <a:chExt cx="37875889" cy="1245616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37875889" cy="1245616"/>
              <a:chOff x="0" y="0"/>
              <a:chExt cx="2673858" cy="8801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2673858" cy="88011"/>
              </a:xfrm>
              <a:custGeom>
                <a:avLst/>
                <a:gdLst/>
                <a:ahLst/>
                <a:cxnLst/>
                <a:rect l="l" t="t" r="r" b="b"/>
                <a:pathLst>
                  <a:path w="2673858" h="88011">
                    <a:moveTo>
                      <a:pt x="2673858" y="6813"/>
                    </a:moveTo>
                    <a:lnTo>
                      <a:pt x="2673858" y="81198"/>
                    </a:lnTo>
                    <a:cubicBezTo>
                      <a:pt x="2673858" y="83005"/>
                      <a:pt x="2673140" y="84738"/>
                      <a:pt x="2671862" y="86015"/>
                    </a:cubicBezTo>
                    <a:cubicBezTo>
                      <a:pt x="2670584" y="87293"/>
                      <a:pt x="2668851" y="88011"/>
                      <a:pt x="2667045" y="88011"/>
                    </a:cubicBezTo>
                    <a:lnTo>
                      <a:pt x="6813" y="88011"/>
                    </a:lnTo>
                    <a:cubicBezTo>
                      <a:pt x="3050" y="88011"/>
                      <a:pt x="0" y="84961"/>
                      <a:pt x="0" y="81198"/>
                    </a:cubicBezTo>
                    <a:lnTo>
                      <a:pt x="0" y="6813"/>
                    </a:lnTo>
                    <a:cubicBezTo>
                      <a:pt x="0" y="5006"/>
                      <a:pt x="718" y="3273"/>
                      <a:pt x="1996" y="1996"/>
                    </a:cubicBezTo>
                    <a:cubicBezTo>
                      <a:pt x="3273" y="718"/>
                      <a:pt x="5006" y="0"/>
                      <a:pt x="6813" y="0"/>
                    </a:cubicBezTo>
                    <a:lnTo>
                      <a:pt x="2667045" y="0"/>
                    </a:lnTo>
                    <a:cubicBezTo>
                      <a:pt x="2668851" y="0"/>
                      <a:pt x="2670584" y="718"/>
                      <a:pt x="2671862" y="1996"/>
                    </a:cubicBezTo>
                    <a:cubicBezTo>
                      <a:pt x="2673140" y="3273"/>
                      <a:pt x="2673858" y="5006"/>
                      <a:pt x="2673858" y="6813"/>
                    </a:cubicBezTo>
                    <a:close/>
                  </a:path>
                </a:pathLst>
              </a:custGeom>
              <a:ln w="95250" cap="rnd">
                <a:gradFill>
                  <a:gsLst>
                    <a:gs pos="0">
                      <a:srgbClr val="545454">
                        <a:alpha val="100000"/>
                      </a:srgbClr>
                    </a:gs>
                    <a:gs pos="100000">
                      <a:srgbClr val="828282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19050"/>
                <a:ext cx="2673858" cy="107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639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36068" y="146595"/>
              <a:ext cx="22297178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 spc="1615">
                  <a:solidFill>
                    <a:srgbClr val="1D1D1B"/>
                  </a:solidFill>
                  <a:latin typeface="Nasalization"/>
                  <a:ea typeface="Nasalization"/>
                  <a:cs typeface="Nasalization"/>
                  <a:sym typeface="Nasalization"/>
                </a:rPr>
                <a:t>BENTOTEC • ETEC Bento Quirino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0090338" y="146595"/>
              <a:ext cx="6684419" cy="933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00"/>
                </a:lnSpc>
                <a:spcBef>
                  <a:spcPct val="0"/>
                </a:spcBef>
              </a:pPr>
              <a:r>
                <a:rPr lang="en-US" sz="4500" spc="1615">
                  <a:solidFill>
                    <a:srgbClr val="1D1D1B"/>
                  </a:solidFill>
                  <a:latin typeface="Nasalization"/>
                  <a:ea typeface="Nasalization"/>
                  <a:cs typeface="Nasalization"/>
                  <a:sym typeface="Nasalization"/>
                </a:rPr>
                <a:t>@bentotec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4838550" y="8066519"/>
            <a:ext cx="9081637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METODOLOGIA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73723" y="25954663"/>
            <a:ext cx="13661722" cy="497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Espera-se </a:t>
            </a:r>
            <a:r>
              <a:rPr lang="pt-BR" sz="3500" b="1" dirty="0">
                <a:latin typeface="Arial" panose="020B0604020202020204" pitchFamily="34" charset="0"/>
                <a:cs typeface="Arial" panose="020B0604020202020204" pitchFamily="34" charset="0"/>
              </a:rPr>
              <a:t>aumentar o interesse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dos estudantes pela História do Brasil por meio de uma experiência educativa mais dinâmica e imersiva. O projeto pretende facilitar a compreensão e a fixação dos conteúdos históricos, além de incentivar o pensamento crítico sobre a formação histórica e social do país.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Também se espera que o protótipo desenvolvido possa ser expandido futuramente para abordar novos períodos e temas da História do Brasil.</a:t>
            </a:r>
          </a:p>
          <a:p>
            <a:pPr algn="just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379276" y="24670577"/>
            <a:ext cx="11876223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spc="1521" dirty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RESULTADOS </a:t>
            </a:r>
            <a:r>
              <a:rPr lang="en-US" sz="5700" spc="1521" dirty="0" smtClean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ESPERADOS</a:t>
            </a:r>
            <a:endParaRPr lang="en-US" sz="5700" spc="1521" dirty="0">
              <a:solidFill>
                <a:srgbClr val="FFFFFF"/>
              </a:solidFill>
              <a:latin typeface="Chau Philomene"/>
              <a:ea typeface="Chau Philomene"/>
              <a:cs typeface="Chau Philomene"/>
              <a:sym typeface="Chau Philomene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4726531" y="26853974"/>
            <a:ext cx="1282709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spc="1388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REFERÊNCIAS BIBLIOGRÁFICAS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726531" y="27803231"/>
            <a:ext cx="13561818" cy="314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Inclua apenas as principais referências utilizadas na elaboração do projeto, preferencialmente em formato ABNT. </a:t>
            </a:r>
          </a:p>
          <a:p>
            <a:pPr algn="just">
              <a:lnSpc>
                <a:spcPts val="312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Recomenda-se utilizar até 2 referências, podendo chegar a 3, desde que sejam curtas.</a:t>
            </a:r>
          </a:p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Arial 26. Sem Negrito e Itálico em palavras de destaque.</a:t>
            </a:r>
          </a:p>
          <a:p>
            <a:pPr algn="just">
              <a:lnSpc>
                <a:spcPts val="312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altere a posição, tamanho cor ou formato da barra de título e borda da seção.</a:t>
            </a:r>
          </a:p>
          <a:p>
            <a:pPr algn="just">
              <a:lnSpc>
                <a:spcPts val="3120"/>
              </a:lnSpc>
            </a:pPr>
            <a:endParaRPr lang="en-US"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21410977" y="18320838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 1: Radar Móvel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1410977" y="20617605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410977" y="22417830"/>
            <a:ext cx="4726952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Imagem 2: Radar Fixo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1410977" y="24714598"/>
            <a:ext cx="472695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1">
                <a:solidFill>
                  <a:srgbClr val="191919"/>
                </a:solidFill>
                <a:latin typeface="Aptos Bold"/>
                <a:ea typeface="Aptos Bold"/>
                <a:cs typeface="Aptos Bold"/>
                <a:sym typeface="Aptos Bold"/>
              </a:rPr>
              <a:t>Fonte: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38550" y="9293555"/>
            <a:ext cx="13144853" cy="8046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projeto será dividido em duas frentes principais: </a:t>
            </a:r>
            <a:r>
              <a:rPr lang="pt-BR" sz="3500" i="1" dirty="0">
                <a:latin typeface="Arial" panose="020B0604020202020204" pitchFamily="34" charset="0"/>
                <a:cs typeface="Arial" panose="020B0604020202020204" pitchFamily="34" charset="0"/>
              </a:rPr>
              <a:t>pesquisa histórica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3500" i="1" dirty="0">
                <a:latin typeface="Arial" panose="020B0604020202020204" pitchFamily="34" charset="0"/>
                <a:cs typeface="Arial" panose="020B0604020202020204" pitchFamily="34" charset="0"/>
              </a:rPr>
              <a:t>produção técnica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do jogo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Na etapa de pesquisa, serão utilizados conteúdos historiográficos relacionados à História do Brasil pré-colonial e colonial, com foco na valorização dos povos originários e em perspectivas decoloniais. A narrativa será construída com base em acontecimentos históricos, referências acadêmicas e elementos culturais dos povos retratados.</a:t>
            </a:r>
          </a:p>
          <a:p>
            <a:pPr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Na etapa técnica, o jogo será desenvolvido na engine Godot 4, enquanto os personagens, cenários e objetos tridimensionais serão produzidos utilizando Blender. </a:t>
            </a:r>
            <a:r>
              <a:rPr lang="pt-BR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gameplay contará com exploração, missões, e escolhas narrativas que influenciam a experiência do jogador.</a:t>
            </a:r>
          </a:p>
          <a:p>
            <a:pPr algn="just">
              <a:lnSpc>
                <a:spcPts val="4199"/>
              </a:lnSpc>
            </a:pPr>
            <a:endParaRPr lang="en-US" sz="34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22072685" y="31562261"/>
            <a:ext cx="655488" cy="655488"/>
          </a:xfrm>
          <a:custGeom>
            <a:avLst/>
            <a:gdLst/>
            <a:ahLst/>
            <a:cxnLst/>
            <a:rect l="l" t="t" r="r" b="b"/>
            <a:pathLst>
              <a:path w="655488" h="655488">
                <a:moveTo>
                  <a:pt x="0" y="0"/>
                </a:moveTo>
                <a:lnTo>
                  <a:pt x="655488" y="0"/>
                </a:lnTo>
                <a:lnTo>
                  <a:pt x="655488" y="655488"/>
                </a:lnTo>
                <a:lnTo>
                  <a:pt x="0" y="6554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7" name="TextBox 77"/>
          <p:cNvSpPr txBox="1"/>
          <p:nvPr/>
        </p:nvSpPr>
        <p:spPr>
          <a:xfrm>
            <a:off x="349937" y="4439885"/>
            <a:ext cx="7861078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3"/>
              </a:lnSpc>
              <a:spcBef>
                <a:spcPct val="0"/>
              </a:spcBef>
            </a:pPr>
            <a:r>
              <a:rPr lang="en-US" sz="3335" spc="1154" dirty="0">
                <a:solidFill>
                  <a:srgbClr val="FFFFFF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TECNOLOGIA DIGITAL E INTELIGÊNCIA ARTIFICIAL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492</Words>
  <Application>Microsoft Office PowerPoint</Application>
  <PresentationFormat>Personalizar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Calibri</vt:lpstr>
      <vt:lpstr>Chau Philomene</vt:lpstr>
      <vt:lpstr>Aptos Bold</vt:lpstr>
      <vt:lpstr>Arial</vt:lpstr>
      <vt:lpstr>Nasalization</vt:lpstr>
      <vt:lpstr>ITC Franklin Gothic LT Semi-Bold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BANNERS 2026</dc:title>
  <dc:creator>MARIA JULIA DA SILVA ARAUJO</dc:creator>
  <cp:lastModifiedBy>MARIA JULIA DA SILVA ARAUJO</cp:lastModifiedBy>
  <cp:revision>5</cp:revision>
  <dcterms:created xsi:type="dcterms:W3CDTF">2006-08-16T00:00:00Z</dcterms:created>
  <dcterms:modified xsi:type="dcterms:W3CDTF">2026-08-24T14:09:54Z</dcterms:modified>
  <dc:identifier>DAHREV7FCzo</dc:identifier>
</cp:coreProperties>
</file>